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uce Heavy" charset="1" panose="00000A00000000000000"/>
      <p:regular r:id="rId24"/>
    </p:embeddedFont>
    <p:embeddedFont>
      <p:font typeface="Open Sauce Bold" charset="1" panose="00000800000000000000"/>
      <p:regular r:id="rId25"/>
    </p:embeddedFont>
    <p:embeddedFont>
      <p:font typeface="Open Sauce" charset="1" panose="00000500000000000000"/>
      <p:regular r:id="rId26"/>
    </p:embeddedFont>
    <p:embeddedFont>
      <p:font typeface="Open Sauce Light" charset="1" panose="000004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284329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-238125"/>
            <a:ext cx="16164587" cy="209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80"/>
              </a:lnSpc>
            </a:pPr>
            <a:r>
              <a:rPr lang="en-US" sz="12200" spc="-573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4-bit CPU DATAPATH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2276475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15070" y="3664882"/>
            <a:ext cx="6809542" cy="2397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7"/>
              </a:lnSpc>
              <a:spcBef>
                <a:spcPct val="0"/>
              </a:spcBef>
            </a:pPr>
            <a:r>
              <a:rPr lang="en-US" b="true" sz="4605" spc="-2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Student Information:</a:t>
            </a:r>
          </a:p>
          <a:p>
            <a:pPr algn="l" marL="994364" indent="-497182" lvl="1">
              <a:lnSpc>
                <a:spcPts val="64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605" spc="-2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Lam Duy Loc</a:t>
            </a:r>
          </a:p>
          <a:p>
            <a:pPr algn="l" marL="994364" indent="-497182" lvl="1">
              <a:lnSpc>
                <a:spcPts val="644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605" spc="-2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Student ID: SE190907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5526" y="640883"/>
            <a:ext cx="12447596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-18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System Architecture &amp; 3-Stage Pipeline Overview</a:t>
            </a:r>
          </a:p>
        </p:txBody>
      </p:sp>
      <p:sp>
        <p:nvSpPr>
          <p:cNvPr name="AutoShape 6" id="6"/>
          <p:cNvSpPr/>
          <p:nvPr/>
        </p:nvSpPr>
        <p:spPr>
          <a:xfrm>
            <a:off x="1045163" y="1501874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61291" y="2546311"/>
            <a:ext cx="18026709" cy="436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832" indent="-267416" lvl="1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77" spc="-1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Harvard Hardware Architecture: Physically separated Instruction ROM  and Data RAM, completely preventing memory bus access contention.</a:t>
            </a:r>
          </a:p>
          <a:p>
            <a:pPr algn="l" marL="534832" indent="-267416" lvl="1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77" spc="-1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3-Stage Pipeline Structure:</a:t>
            </a:r>
          </a:p>
          <a:p>
            <a:pPr algn="l" marL="1069664" indent="-356555" lvl="2">
              <a:lnSpc>
                <a:spcPts val="346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77" spc="-1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Stage 1 (IF - Fetch): Program Counter (PC) fetches 12-bit instruction into IF/ID pipeline register (instruction_register).</a:t>
            </a:r>
          </a:p>
          <a:p>
            <a:pPr algn="l" marL="1069664" indent="-356555" lvl="2">
              <a:lnSpc>
                <a:spcPts val="346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77" spc="-1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Stage 2 (ID - Decode): Control Unit decodes 4-bit Opcode into 11 concurrent control lines; fetches dual source operands from Register File.</a:t>
            </a:r>
          </a:p>
          <a:p>
            <a:pPr algn="l" marL="1069664" indent="-356555" lvl="2">
              <a:lnSpc>
                <a:spcPts val="346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77" spc="-1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Stage 3 (EX - Execute &amp; Write-Back): ALU executes arithmetic/logic operations; accesses RAM (LOAD/STORE); updates Zero/Carry flags; writes back to Register File.</a:t>
            </a:r>
          </a:p>
          <a:p>
            <a:pPr algn="l" marL="534832" indent="-267416" lvl="1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77" spc="-11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Internal Register File: 4 general-purpose 4-bit registers (R0-R3) with dual asynchronous read ports and single synchronous write port.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5526" y="640883"/>
            <a:ext cx="13434026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-18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Hierarchical RTL Design &amp; Elaborated Schematic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5694" y="2675505"/>
            <a:ext cx="16016612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00" spc="-13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Modular Hardware Organization:</a:t>
            </a:r>
          </a:p>
          <a:p>
            <a:pPr algn="l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900" spc="-13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IF Stage: PC_MUX, program_counter, instruction_memory, instruction_register (IF/ID).</a:t>
            </a:r>
          </a:p>
          <a:p>
            <a:pPr algn="l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900" spc="-13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ID Stage: control_unit, register_file, pipeline_register (ID/EX).</a:t>
            </a:r>
          </a:p>
          <a:p>
            <a:pPr algn="l" marL="1252221" indent="-417407" lvl="2">
              <a:lnSpc>
                <a:spcPts val="40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900" spc="-13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</a:t>
            </a:r>
            <a:r>
              <a:rPr lang="en-US" b="true" sz="2900" spc="-13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EX &amp; WB Stage: OPERAND_MUX, alu, flag_register, data_memory, WB_MUX.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00" spc="-13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Control Synchronization: Control signals are latched through the ID_EX register in parallel with operand data, eliminating timing skew at the execution stage.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>
            <a:off x="1364010" y="1584156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364010" y="1584156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00942" y="1860381"/>
            <a:ext cx="15686115" cy="8068545"/>
          </a:xfrm>
          <a:custGeom>
            <a:avLst/>
            <a:gdLst/>
            <a:ahLst/>
            <a:cxnLst/>
            <a:rect r="r" b="b" t="t" l="l"/>
            <a:pathLst>
              <a:path h="8068545" w="15686115">
                <a:moveTo>
                  <a:pt x="0" y="0"/>
                </a:moveTo>
                <a:lnTo>
                  <a:pt x="15686116" y="0"/>
                </a:lnTo>
                <a:lnTo>
                  <a:pt x="15686116" y="8068545"/>
                </a:lnTo>
                <a:lnTo>
                  <a:pt x="0" y="80685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5526" y="640883"/>
            <a:ext cx="13434026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-18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Hierarchical RTL Design &amp; Elaborated Schematic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364010" y="1584156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2645263"/>
            <a:ext cx="18261647" cy="6890172"/>
          </a:xfrm>
          <a:custGeom>
            <a:avLst/>
            <a:gdLst/>
            <a:ahLst/>
            <a:cxnLst/>
            <a:rect r="r" b="b" t="t" l="l"/>
            <a:pathLst>
              <a:path h="6890172" w="18261647">
                <a:moveTo>
                  <a:pt x="0" y="0"/>
                </a:moveTo>
                <a:lnTo>
                  <a:pt x="18261647" y="0"/>
                </a:lnTo>
                <a:lnTo>
                  <a:pt x="18261647" y="6890171"/>
                </a:lnTo>
                <a:lnTo>
                  <a:pt x="0" y="68901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5526" y="640883"/>
            <a:ext cx="13434026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-18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Hierarchical RTL Design &amp; Elaborated Schematic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34340"/>
            <a:ext cx="18288000" cy="9418320"/>
          </a:xfrm>
          <a:custGeom>
            <a:avLst/>
            <a:gdLst/>
            <a:ahLst/>
            <a:cxnLst/>
            <a:rect r="r" b="b" t="t" l="l"/>
            <a:pathLst>
              <a:path h="9418320" w="18288000">
                <a:moveTo>
                  <a:pt x="0" y="0"/>
                </a:moveTo>
                <a:lnTo>
                  <a:pt x="18288000" y="0"/>
                </a:lnTo>
                <a:lnTo>
                  <a:pt x="18288000" y="9418320"/>
                </a:lnTo>
                <a:lnTo>
                  <a:pt x="0" y="9418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5526" y="640883"/>
            <a:ext cx="11625571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-18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Comprehensive Automated Verification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1045163" y="1501874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23949" y="2946071"/>
            <a:ext cx="17064051" cy="5605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958" indent="-342979" lvl="1">
              <a:lnSpc>
                <a:spcPts val="4448"/>
              </a:lnSpc>
              <a:buFont typeface="Arial"/>
              <a:buChar char="•"/>
            </a:pPr>
            <a:r>
              <a:rPr lang="en-US" b="true" sz="3177" spc="-149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Automated Regression Suite (tb_regression_88.v):</a:t>
            </a:r>
          </a:p>
          <a:p>
            <a:pPr algn="l" marL="1371916" indent="-457305" lvl="2">
              <a:lnSpc>
                <a:spcPts val="44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177" spc="-149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1 - ALU (11 checks): Verifies all arithmetic/logic operations, carry-out overflow, and zero detection.</a:t>
            </a:r>
          </a:p>
          <a:p>
            <a:pPr algn="l" marL="1371916" indent="-457305" lvl="2">
              <a:lnSpc>
                <a:spcPts val="44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177" spc="-149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2 - Register File (11 checks): Validates reset, dual-port simultaneous reads, and write inhibition when we = 0.</a:t>
            </a:r>
          </a:p>
          <a:p>
            <a:pPr algn="l" marL="1371916" indent="-457305" lvl="2">
              <a:lnSpc>
                <a:spcPts val="44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177" spc="-149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3 - Control Unit (22 checks): Validates 16 opcodes and 6 branch unit decision vectors.</a:t>
            </a:r>
          </a:p>
          <a:p>
            <a:pPr algn="l" marL="1371916" indent="-457305" lvl="2">
              <a:lnSpc>
                <a:spcPts val="44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177" spc="-149">
                <a:solidFill>
                  <a:srgbClr val="4242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4 - CPU Top Integration (44 checks): Executes 4 full programs (program.mem, prog_arith.mem, prog_logic.mem, prog_jump.mem).</a:t>
            </a:r>
          </a:p>
          <a:p>
            <a:pPr algn="l">
              <a:lnSpc>
                <a:spcPts val="44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1460"/>
            <a:ext cx="18288000" cy="9784080"/>
          </a:xfrm>
          <a:custGeom>
            <a:avLst/>
            <a:gdLst/>
            <a:ahLst/>
            <a:cxnLst/>
            <a:rect r="r" b="b" t="t" l="l"/>
            <a:pathLst>
              <a:path h="9784080" w="18288000">
                <a:moveTo>
                  <a:pt x="0" y="0"/>
                </a:moveTo>
                <a:lnTo>
                  <a:pt x="18288000" y="0"/>
                </a:lnTo>
                <a:lnTo>
                  <a:pt x="18288000" y="9784080"/>
                </a:lnTo>
                <a:lnTo>
                  <a:pt x="0" y="9784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45163" y="1501874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75526" y="640883"/>
            <a:ext cx="12118786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-18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Simulation Waveform Analysis &amp; Hazard Resolution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672743"/>
            <a:ext cx="18288000" cy="433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4369" indent="-332184" lvl="1">
              <a:lnSpc>
                <a:spcPts val="43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77" spc="-14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Pipeline Behavioral Verification:</a:t>
            </a:r>
          </a:p>
          <a:p>
            <a:pPr algn="l" marL="1328737" indent="-442912" lvl="2">
              <a:lnSpc>
                <a:spcPts val="430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77" spc="-14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Pipeline Priming (200ns - 240ns): Deasserting reset at 210ns allows instruction 645 (LDI R1, 5) to fetch at 220ns, decode at 230ns, and write back to R1 at 240ns.</a:t>
            </a:r>
          </a:p>
          <a:p>
            <a:pPr algn="l" marL="1328737" indent="-442912" lvl="2">
              <a:lnSpc>
                <a:spcPts val="430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77" spc="-14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Peak Throughput: Demonstrates steady 1 IPC execution on sequential streams                         (683 -&gt; 060 -&gt; 6ca -&gt; 470).</a:t>
            </a:r>
          </a:p>
          <a:p>
            <a:pPr algn="l" marL="1328737" indent="-442912" lvl="2">
              <a:lnSpc>
                <a:spcPts val="430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77" spc="-144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Control Hazard Handling (300ns): a05 (JMP 5) reaches the EX stage -&gt; pc_sel = 1 and flush = 1: PC loads target 5, succeeding instructions at addresses 6 and 7 become bubbles (c00 NOP), protecting register state integrity.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20040"/>
            <a:ext cx="18288000" cy="9646920"/>
          </a:xfrm>
          <a:custGeom>
            <a:avLst/>
            <a:gdLst/>
            <a:ahLst/>
            <a:cxnLst/>
            <a:rect r="r" b="b" t="t" l="l"/>
            <a:pathLst>
              <a:path h="9646920" w="18288000">
                <a:moveTo>
                  <a:pt x="0" y="0"/>
                </a:moveTo>
                <a:lnTo>
                  <a:pt x="18288000" y="0"/>
                </a:lnTo>
                <a:lnTo>
                  <a:pt x="18288000" y="9646920"/>
                </a:lnTo>
                <a:lnTo>
                  <a:pt x="0" y="9646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1460"/>
            <a:ext cx="18288000" cy="9784080"/>
          </a:xfrm>
          <a:custGeom>
            <a:avLst/>
            <a:gdLst/>
            <a:ahLst/>
            <a:cxnLst/>
            <a:rect r="r" b="b" t="t" l="l"/>
            <a:pathLst>
              <a:path h="9784080" w="18288000">
                <a:moveTo>
                  <a:pt x="0" y="0"/>
                </a:moveTo>
                <a:lnTo>
                  <a:pt x="18288000" y="0"/>
                </a:lnTo>
                <a:lnTo>
                  <a:pt x="18288000" y="9784080"/>
                </a:lnTo>
                <a:lnTo>
                  <a:pt x="0" y="9784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5526" y="640883"/>
            <a:ext cx="11696030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-18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Synthesis Results &amp; FPGA Resource Utilization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1045163" y="1501874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14350" y="3711344"/>
            <a:ext cx="17259300" cy="28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547" indent="-353774" lvl="1">
              <a:lnSpc>
                <a:spcPts val="4588"/>
              </a:lnSpc>
              <a:spcBef>
                <a:spcPct val="0"/>
              </a:spcBef>
              <a:buFont typeface="Arial"/>
              <a:buChar char="•"/>
            </a:pPr>
            <a:r>
              <a:rPr lang="en-US" sz="3277" spc="-154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Slice LUTs: 35 / 303,600 (0.01%) -&gt; Implements ALU, Decoder, Branch Unit, and 3 Multiplexers.</a:t>
            </a:r>
          </a:p>
          <a:p>
            <a:pPr algn="l" marL="707547" indent="-353774" lvl="1">
              <a:lnSpc>
                <a:spcPts val="4588"/>
              </a:lnSpc>
              <a:spcBef>
                <a:spcPct val="0"/>
              </a:spcBef>
              <a:buFont typeface="Arial"/>
              <a:buChar char="•"/>
            </a:pPr>
            <a:r>
              <a:rPr lang="en-US" sz="3277" spc="-154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Slice Registers / FFs: 50 / 607,200 (0.01%) -&gt; 4 FFs for PC, 16 FFs for Register File (R0-R3), 2 FFs for Flags, 28 FFs for IF/ID and ID/EX pipeline registers.</a:t>
            </a:r>
          </a:p>
          <a:p>
            <a:pPr algn="l" marL="707547" indent="-353774" lvl="1">
              <a:lnSpc>
                <a:spcPts val="4588"/>
              </a:lnSpc>
              <a:spcBef>
                <a:spcPct val="0"/>
              </a:spcBef>
              <a:buFont typeface="Arial"/>
              <a:buChar char="•"/>
            </a:pPr>
            <a:r>
              <a:rPr lang="en-US" sz="3277" spc="-154">
                <a:solidFill>
                  <a:srgbClr val="424242"/>
                </a:solidFill>
                <a:latin typeface="Open Sauce"/>
                <a:ea typeface="Open Sauce"/>
                <a:cs typeface="Open Sauce"/>
                <a:sym typeface="Open Sauce"/>
              </a:rPr>
              <a:t>Bonded I/O Pins: 28 / 600 (4.67%) -&gt; 2 inputs (clk, rst) and 26 observation/debug outputs.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62915"/>
            <a:ext cx="18288000" cy="9361170"/>
          </a:xfrm>
          <a:custGeom>
            <a:avLst/>
            <a:gdLst/>
            <a:ahLst/>
            <a:cxnLst/>
            <a:rect r="r" b="b" t="t" l="l"/>
            <a:pathLst>
              <a:path h="9361170" w="18288000">
                <a:moveTo>
                  <a:pt x="0" y="0"/>
                </a:moveTo>
                <a:lnTo>
                  <a:pt x="18288000" y="0"/>
                </a:lnTo>
                <a:lnTo>
                  <a:pt x="18288000" y="9361170"/>
                </a:lnTo>
                <a:lnTo>
                  <a:pt x="0" y="9361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24536" y="0"/>
            <a:ext cx="9838927" cy="10287000"/>
          </a:xfrm>
          <a:custGeom>
            <a:avLst/>
            <a:gdLst/>
            <a:ahLst/>
            <a:cxnLst/>
            <a:rect r="r" b="b" t="t" l="l"/>
            <a:pathLst>
              <a:path h="10287000" w="9838927">
                <a:moveTo>
                  <a:pt x="0" y="0"/>
                </a:moveTo>
                <a:lnTo>
                  <a:pt x="9838928" y="0"/>
                </a:lnTo>
                <a:lnTo>
                  <a:pt x="98389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25852">
            <a:off x="-2330235" y="2657262"/>
            <a:ext cx="9386678" cy="10557613"/>
          </a:xfrm>
          <a:custGeom>
            <a:avLst/>
            <a:gdLst/>
            <a:ahLst/>
            <a:cxnLst/>
            <a:rect r="r" b="b" t="t" l="l"/>
            <a:pathLst>
              <a:path h="10557613" w="9386678">
                <a:moveTo>
                  <a:pt x="0" y="0"/>
                </a:moveTo>
                <a:lnTo>
                  <a:pt x="9386678" y="0"/>
                </a:lnTo>
                <a:lnTo>
                  <a:pt x="9386678" y="10557613"/>
                </a:lnTo>
                <a:lnTo>
                  <a:pt x="0" y="10557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55" y="-179895"/>
            <a:ext cx="12858845" cy="4933121"/>
          </a:xfrm>
          <a:custGeom>
            <a:avLst/>
            <a:gdLst/>
            <a:ahLst/>
            <a:cxnLst/>
            <a:rect r="r" b="b" t="t" l="l"/>
            <a:pathLst>
              <a:path h="4933121" w="12858845">
                <a:moveTo>
                  <a:pt x="0" y="0"/>
                </a:moveTo>
                <a:lnTo>
                  <a:pt x="12858845" y="0"/>
                </a:lnTo>
                <a:lnTo>
                  <a:pt x="12858845" y="4933120"/>
                </a:lnTo>
                <a:lnTo>
                  <a:pt x="0" y="493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45163" y="1501874"/>
            <a:ext cx="16214137" cy="0"/>
          </a:xfrm>
          <a:prstGeom prst="line">
            <a:avLst/>
          </a:prstGeom>
          <a:ln cap="flat" w="19050">
            <a:solidFill>
              <a:srgbClr val="42424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13096" y="2477165"/>
            <a:ext cx="14861807" cy="7513682"/>
          </a:xfrm>
          <a:custGeom>
            <a:avLst/>
            <a:gdLst/>
            <a:ahLst/>
            <a:cxnLst/>
            <a:rect r="r" b="b" t="t" l="l"/>
            <a:pathLst>
              <a:path h="7513682" w="14861807">
                <a:moveTo>
                  <a:pt x="0" y="0"/>
                </a:moveTo>
                <a:lnTo>
                  <a:pt x="14861808" y="0"/>
                </a:lnTo>
                <a:lnTo>
                  <a:pt x="14861808" y="7513681"/>
                </a:lnTo>
                <a:lnTo>
                  <a:pt x="0" y="75136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5526" y="640883"/>
            <a:ext cx="9159496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3877" spc="-182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Verification &amp; Truth Table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1557" y="1623145"/>
            <a:ext cx="12044886" cy="66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8"/>
              </a:lnSpc>
              <a:spcBef>
                <a:spcPct val="0"/>
              </a:spcBef>
            </a:pPr>
            <a:r>
              <a:rPr lang="en-US" b="true" sz="3877" spc="-18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Truth Tab</a:t>
            </a:r>
            <a:r>
              <a:rPr lang="en-US" b="true" sz="3877" spc="-18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81705"/>
            <a:ext cx="18288000" cy="9123589"/>
          </a:xfrm>
          <a:custGeom>
            <a:avLst/>
            <a:gdLst/>
            <a:ahLst/>
            <a:cxnLst/>
            <a:rect r="r" b="b" t="t" l="l"/>
            <a:pathLst>
              <a:path h="9123589" w="18288000">
                <a:moveTo>
                  <a:pt x="0" y="0"/>
                </a:moveTo>
                <a:lnTo>
                  <a:pt x="18288000" y="0"/>
                </a:lnTo>
                <a:lnTo>
                  <a:pt x="18288000" y="9123590"/>
                </a:lnTo>
                <a:lnTo>
                  <a:pt x="0" y="9123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50802"/>
            <a:ext cx="18288000" cy="7224215"/>
          </a:xfrm>
          <a:custGeom>
            <a:avLst/>
            <a:gdLst/>
            <a:ahLst/>
            <a:cxnLst/>
            <a:rect r="r" b="b" t="t" l="l"/>
            <a:pathLst>
              <a:path h="7224215" w="18288000">
                <a:moveTo>
                  <a:pt x="0" y="0"/>
                </a:moveTo>
                <a:lnTo>
                  <a:pt x="18288000" y="0"/>
                </a:lnTo>
                <a:lnTo>
                  <a:pt x="18288000" y="7224215"/>
                </a:lnTo>
                <a:lnTo>
                  <a:pt x="0" y="7224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10298471" y="-1364705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3" y="0"/>
                </a:lnTo>
                <a:lnTo>
                  <a:pt x="12791303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692569"/>
            <a:ext cx="9672886" cy="605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5"/>
              </a:lnSpc>
            </a:pPr>
            <a:r>
              <a:rPr lang="en-US" sz="24569" spc="-1154" b="true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01262" y="7848014"/>
            <a:ext cx="3500324" cy="123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3921" spc="-219">
                <a:solidFill>
                  <a:srgbClr val="424242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DAHXDxd8X3w</dc:identifier>
  <dcterms:modified xsi:type="dcterms:W3CDTF">2011-08-01T06:04:30Z</dcterms:modified>
  <cp:revision>1</cp:revision>
  <dc:title>Title: 4-bit ALU</dc:title>
</cp:coreProperties>
</file>